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Emission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3B8F"/>
              </a:solidFill>
              <a:effectLst/>
            </c:spPr>
          </c:dPt>
          <c:dPt>
            <c:idx val="1"/>
            <c:bubble3D val="0"/>
            <c:spPr>
              <a:solidFill>
                <a:srgbClr val="6B5CA5"/>
              </a:solidFill>
              <a:effectLst/>
            </c:spPr>
          </c:dPt>
          <c:dPt>
            <c:idx val="2"/>
            <c:bubble3D val="0"/>
            <c:spPr>
              <a:solidFill>
                <a:srgbClr val="D4A574"/>
              </a:solidFill>
              <a:effectLst/>
            </c:spPr>
          </c:dPt>
          <c:dPt>
            <c:idx val="3"/>
            <c:bubble3D val="0"/>
            <c:spPr>
              <a:solidFill>
                <a:srgbClr val="C4B8E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Validators (70%)</c:v>
                </c:pt>
                <c:pt idx="1">
                  <c:v>PoUW Compute (15%)</c:v>
                </c:pt>
                <c:pt idx="2">
                  <c:v>Treasury (10%)</c:v>
                </c:pt>
                <c:pt idx="3">
                  <c:v>Insurance (5%)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70</c:v>
                </c:pt>
                <c:pt idx="1">
                  <c:v>15</c:v>
                </c:pt>
                <c:pt idx="2">
                  <c:v>10</c:v>
                </c:pt>
                <c:pt idx="3">
                  <c:v>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600"/>
            <a:ext cx="4572000" cy="50750"/>
          </a:xfrm>
          <a:prstGeom prst="rect">
            <a:avLst/>
          </a:prstGeom>
          <a:solidFill>
            <a:srgbClr val="4A3B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0" y="82600"/>
            <a:ext cx="4572000" cy="50750"/>
          </a:xfrm>
          <a:prstGeom prst="rect">
            <a:avLst/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376360" y="1630561"/>
            <a:ext cx="6391281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4200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AZTIBASE NETWORK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376360" y="2351187"/>
            <a:ext cx="639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1800" dirty="0">
                <a:solidFill>
                  <a:srgbClr val="6B5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AI-Native Blockchain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91000" y="2871788"/>
            <a:ext cx="762000" cy="12650"/>
          </a:xfrm>
          <a:prstGeom prst="rect">
            <a:avLst/>
          </a:prstGeom>
          <a:solidFill>
            <a:srgbClr val="C4B8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76360" y="3087588"/>
            <a:ext cx="63912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mining does useful AI work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600"/>
            <a:ext cx="4572000" cy="50750"/>
          </a:xfrm>
          <a:prstGeom prst="rect">
            <a:avLst/>
          </a:prstGeom>
          <a:solidFill>
            <a:srgbClr val="4A3B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0" y="82600"/>
            <a:ext cx="4572000" cy="50750"/>
          </a:xfrm>
          <a:prstGeom prst="rect">
            <a:avLst/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50750"/>
            <a:ext cx="63401" cy="5092601"/>
          </a:xfrm>
          <a:prstGeom prst="rect">
            <a:avLst/>
          </a:prstGeom>
          <a:solidFill>
            <a:srgbClr val="4A3B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304651"/>
            <a:ext cx="878281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400" y="666601"/>
            <a:ext cx="87828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8B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barriers holding back decentralized AI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00050" y="952351"/>
            <a:ext cx="0" cy="749647"/>
          </a:xfrm>
          <a:prstGeom prst="line">
            <a:avLst/>
          </a:prstGeom>
          <a:noFill/>
          <a:ln w="38100">
            <a:solidFill>
              <a:srgbClr val="4A3B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6801" y="1079302"/>
            <a:ext cx="40156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AI Compute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6801" y="1272927"/>
            <a:ext cx="4015689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AWS, Google, and Microsoft control 80%+ of AI infrastructure. A single point of failure for the entire AI economy.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00050" y="1828949"/>
            <a:ext cx="0" cy="749647"/>
          </a:xfrm>
          <a:prstGeom prst="line">
            <a:avLst/>
          </a:prstGeom>
          <a:noFill/>
          <a:ln w="38100">
            <a:solidFill>
              <a:srgbClr val="4A3B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6801" y="1955899"/>
            <a:ext cx="40156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Wasted Mining Energy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6801" y="2149525"/>
            <a:ext cx="4015689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Work blockchains burn electricity solving meaningless puzzles. Proof of Stake requires nothing. Neither creates real-world value.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00050" y="2705546"/>
            <a:ext cx="0" cy="749647"/>
          </a:xfrm>
          <a:prstGeom prst="line">
            <a:avLst/>
          </a:prstGeom>
          <a:noFill/>
          <a:ln w="38100">
            <a:solidFill>
              <a:srgbClr val="4A3B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6801" y="2832497"/>
            <a:ext cx="40156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Decentralized Inference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6801" y="3026122"/>
            <a:ext cx="4015689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developers cannot access affordable, censorship-resistant inference at scale. Every model call routes through centralized APIs.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00050" y="3582144"/>
            <a:ext cx="0" cy="749647"/>
          </a:xfrm>
          <a:prstGeom prst="line">
            <a:avLst/>
          </a:prstGeom>
          <a:noFill/>
          <a:ln w="38100">
            <a:solidFill>
              <a:srgbClr val="4A3B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6801" y="3709095"/>
            <a:ext cx="40156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 Afterthought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6801" y="3902720"/>
            <a:ext cx="4015689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existing blockchain treats AI inference as a first-class protocol operation. It is always a bolt-on, never native.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600"/>
            <a:ext cx="4572000" cy="50750"/>
          </a:xfrm>
          <a:prstGeom prst="rect">
            <a:avLst/>
          </a:prstGeom>
          <a:solidFill>
            <a:srgbClr val="4A3B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0" y="82600"/>
            <a:ext cx="4572000" cy="50750"/>
          </a:xfrm>
          <a:prstGeom prst="rect">
            <a:avLst/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50750"/>
            <a:ext cx="63401" cy="5092601"/>
          </a:xfrm>
          <a:prstGeom prst="rect">
            <a:avLst/>
          </a:prstGeom>
          <a:solidFill>
            <a:srgbClr val="4A3B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527000"/>
            <a:ext cx="878281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3400" y="930176"/>
            <a:ext cx="87828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B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blockchain where mining produces real value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76201"/>
            <a:ext cx="41064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Aztibase Network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12702"/>
            <a:ext cx="4106469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Aft>
                <a:spcPts val="1200"/>
              </a:spcAft>
              <a:buNone/>
            </a:pPr>
            <a:r>
              <a:rPr lang="en-US" sz="100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Layer-1 blockchain where validators earn rewards by running AI inference instead of solving meaningless puzzles. Proof of Useful Work turns every block into productive computation.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374106"/>
            <a:ext cx="4106469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Aft>
                <a:spcPts val="1200"/>
              </a:spcAft>
              <a:buNone/>
            </a:pPr>
            <a:r>
              <a:rPr lang="en-US" sz="100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inference is a native transaction type, verified on-chain through deterministic re-execution and quorum attestation.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8701" y="3034010"/>
            <a:ext cx="1814959" cy="162520"/>
          </a:xfrm>
          <a:prstGeom prst="rect">
            <a:avLst/>
          </a:prstGeom>
          <a:solidFill>
            <a:srgbClr val="EDE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58701" y="3034010"/>
            <a:ext cx="1851258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b="1" dirty="0">
                <a:solidFill>
                  <a:srgbClr val="4A3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RUST  ·  9 CRATES  ·  44,900 LOC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14751" y="1403152"/>
            <a:ext cx="3670548" cy="510480"/>
          </a:xfrm>
          <a:prstGeom prst="rect">
            <a:avLst/>
          </a:prstGeom>
          <a:solidFill>
            <a:srgbClr val="F5F2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14751" y="1403152"/>
            <a:ext cx="37439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4A3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Useful Work (PoUW)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14751" y="1593652"/>
            <a:ext cx="374395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Validators earn by running real AI inference tasks, scored on accuracy, latency, and availability.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14751" y="2294483"/>
            <a:ext cx="3670548" cy="510480"/>
          </a:xfrm>
          <a:prstGeom prst="rect">
            <a:avLst/>
          </a:prstGeom>
          <a:solidFill>
            <a:srgbClr val="F5F2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14751" y="2294483"/>
            <a:ext cx="37439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4A3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VM: WASM + EVM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14751" y="2484983"/>
            <a:ext cx="374395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contracts in Rust, C, or Solidity. No ecosystem lock-in. Full EVM compatibility.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14751" y="3185815"/>
            <a:ext cx="3670548" cy="510480"/>
          </a:xfrm>
          <a:prstGeom prst="rect">
            <a:avLst/>
          </a:prstGeom>
          <a:solidFill>
            <a:srgbClr val="F5F2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14751" y="3185815"/>
            <a:ext cx="37439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4A3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Server-Independent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14751" y="3376315"/>
            <a:ext cx="374395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nodes via WebRTC. Works even if all centralized infrastructure goes offline.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14751" y="4077146"/>
            <a:ext cx="3670548" cy="510480"/>
          </a:xfrm>
          <a:prstGeom prst="rect">
            <a:avLst/>
          </a:prstGeom>
          <a:solidFill>
            <a:srgbClr val="F5F2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14751" y="4077146"/>
            <a:ext cx="37439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4A3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 Consensus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14751" y="4267646"/>
            <a:ext cx="374395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10,000+ TPS, sub-second finality. Not limited by linear chain bottlenecks.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600"/>
            <a:ext cx="4572000" cy="50750"/>
          </a:xfrm>
          <a:prstGeom prst="rect">
            <a:avLst/>
          </a:prstGeom>
          <a:solidFill>
            <a:srgbClr val="4A3B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0" y="82600"/>
            <a:ext cx="4572000" cy="50750"/>
          </a:xfrm>
          <a:prstGeom prst="rect">
            <a:avLst/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50750"/>
            <a:ext cx="63401" cy="5092601"/>
          </a:xfrm>
          <a:prstGeom prst="rect">
            <a:avLst/>
          </a:prstGeom>
          <a:solidFill>
            <a:srgbClr val="4A3B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527000"/>
            <a:ext cx="878281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3400" y="930176"/>
            <a:ext cx="87828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B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PoUW inference pipeline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7680" y="132695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4A3B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02117" y="1418927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3433" y="1758702"/>
            <a:ext cx="14041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MODEL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3433" y="1942802"/>
            <a:ext cx="1404193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uploads ONNX model to on-chain registry with 5% royalty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910060" y="1479352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4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00040" y="132695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4A3B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834476" y="1418927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75794" y="1758702"/>
            <a:ext cx="140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TASK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75794" y="1942802"/>
            <a:ext cx="1404042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Requester posts inference job, pays AZTB reward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42271" y="1479352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4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32250" y="132695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4A3B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66687" y="1418927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08003" y="1758702"/>
            <a:ext cx="14041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908003" y="1942802"/>
            <a:ext cx="140419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 validator runs inference via tract runtime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374630" y="1479352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4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64610" y="132695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4A3B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299046" y="1418927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40364" y="1758702"/>
            <a:ext cx="140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ATTESTATION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40364" y="1942802"/>
            <a:ext cx="1404042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Quorum of 2+ validators verify matching results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06841" y="1479352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4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896820" y="132695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4A3B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031257" y="1418927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72573" y="1758702"/>
            <a:ext cx="14041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72573" y="1942802"/>
            <a:ext cx="1404193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Rewards split among validators, 5% royalty to model provider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85800" y="2750493"/>
            <a:ext cx="7772400" cy="917377"/>
          </a:xfrm>
          <a:prstGeom prst="roundRect">
            <a:avLst>
              <a:gd name="adj" fmla="val 8306"/>
            </a:avLst>
          </a:prstGeom>
          <a:solidFill>
            <a:srgbClr val="F5F2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14400" y="2928193"/>
            <a:ext cx="74615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4A3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Validator Scoring: PoUW Formula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14400" y="3147268"/>
            <a:ext cx="74615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Validators are ranked by a multi-metric score: Accuracy (40%) + Latency (30%) + Availability (30%). Higher-scoring validators receive more task assignments and earn proportionally more rewards. This creates a competitive market for inference quality.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600"/>
            <a:ext cx="4572000" cy="50750"/>
          </a:xfrm>
          <a:prstGeom prst="rect">
            <a:avLst/>
          </a:prstGeom>
          <a:solidFill>
            <a:srgbClr val="4A3B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0" y="82600"/>
            <a:ext cx="4572000" cy="50750"/>
          </a:xfrm>
          <a:prstGeom prst="rect">
            <a:avLst/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50750"/>
            <a:ext cx="63401" cy="5092601"/>
          </a:xfrm>
          <a:prstGeom prst="rect">
            <a:avLst/>
          </a:prstGeom>
          <a:solidFill>
            <a:srgbClr val="4A3B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527000"/>
            <a:ext cx="878281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&amp; PROOF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3400" y="930176"/>
            <a:ext cx="87828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B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Code-backed evidence, not promises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34901" y="1428601"/>
            <a:ext cx="1841450" cy="768251"/>
          </a:xfrm>
          <a:prstGeom prst="roundRect">
            <a:avLst>
              <a:gd name="adj" fmla="val 9919"/>
            </a:avLst>
          </a:prstGeom>
          <a:solidFill>
            <a:srgbClr val="F5F2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97741" y="1581001"/>
            <a:ext cx="151577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4A3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44,900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97741" y="1930152"/>
            <a:ext cx="15157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RUST CODE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958703" y="1428601"/>
            <a:ext cx="1841450" cy="768251"/>
          </a:xfrm>
          <a:prstGeom prst="roundRect">
            <a:avLst>
              <a:gd name="adj" fmla="val 9919"/>
            </a:avLst>
          </a:prstGeom>
          <a:solidFill>
            <a:srgbClr val="F5F2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121543" y="1581001"/>
            <a:ext cx="151577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4A3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940+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21543" y="1930152"/>
            <a:ext cx="15157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PASSING TESTS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82505" y="1428601"/>
            <a:ext cx="1841450" cy="768251"/>
          </a:xfrm>
          <a:prstGeom prst="roundRect">
            <a:avLst>
              <a:gd name="adj" fmla="val 9919"/>
            </a:avLst>
          </a:prstGeom>
          <a:solidFill>
            <a:srgbClr val="F5F2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445346" y="1581001"/>
            <a:ext cx="151577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4A3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18.3K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45346" y="1930152"/>
            <a:ext cx="15157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TPS PER CORE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34901" y="2628602"/>
            <a:ext cx="1841450" cy="768251"/>
          </a:xfrm>
          <a:prstGeom prst="roundRect">
            <a:avLst>
              <a:gd name="adj" fmla="val 9919"/>
            </a:avLst>
          </a:prstGeom>
          <a:solidFill>
            <a:srgbClr val="F5F2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97741" y="2781002"/>
            <a:ext cx="151577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4A3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7741" y="3130153"/>
            <a:ext cx="15157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SPRINTS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3726954"/>
            <a:ext cx="40156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Infrastructure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946029"/>
            <a:ext cx="3936950" cy="86320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360"/>
              </a:lnSpc>
              <a:buSzPct val="100000"/>
              <a:buChar char="•"/>
            </a:pPr>
            <a:r>
              <a:rPr lang="en-US" sz="85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3-node testnet running continuously</a:t>
            </a:r>
            <a:endParaRPr lang="en-US" sz="850" dirty="0"/>
          </a:p>
          <a:p>
            <a:pPr algn="l" marL="88900" indent="-88900">
              <a:lnSpc>
                <a:spcPts val="1360"/>
              </a:lnSpc>
              <a:buSzPct val="100000"/>
              <a:buChar char="•"/>
            </a:pPr>
            <a:r>
              <a:rPr lang="en-US" sz="85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400ms block time, sub-second finality</a:t>
            </a:r>
            <a:endParaRPr lang="en-US" sz="850" dirty="0"/>
          </a:p>
          <a:p>
            <a:pPr algn="l" marL="88900" indent="-88900">
              <a:lnSpc>
                <a:spcPts val="1360"/>
              </a:lnSpc>
              <a:buSzPct val="100000"/>
              <a:buChar char="•"/>
            </a:pPr>
            <a:r>
              <a:rPr lang="en-US" sz="85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JSON-RPC methods, all functional</a:t>
            </a:r>
            <a:endParaRPr lang="en-US" sz="850" dirty="0"/>
          </a:p>
          <a:p>
            <a:pPr algn="l" marL="88900" indent="-88900">
              <a:lnSpc>
                <a:spcPts val="1360"/>
              </a:lnSpc>
              <a:buSzPct val="100000"/>
              <a:buChar char="•"/>
            </a:pPr>
            <a:r>
              <a:rPr lang="en-US" sz="85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validator deployment script</a:t>
            </a:r>
            <a:endParaRPr lang="en-US" sz="850" dirty="0"/>
          </a:p>
          <a:p>
            <a:pPr algn="l" marL="88900" indent="-88900">
              <a:lnSpc>
                <a:spcPts val="1360"/>
              </a:lnSpc>
              <a:buSzPct val="100000"/>
              <a:buChar char="•"/>
            </a:pPr>
            <a:r>
              <a:rPr lang="en-US" sz="85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+ Grafana monitoring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1851" y="3726954"/>
            <a:ext cx="40156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&amp; Security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1851" y="3946029"/>
            <a:ext cx="3936950" cy="86320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360"/>
              </a:lnSpc>
              <a:buSzPct val="100000"/>
              <a:buChar char="•"/>
            </a:pPr>
            <a:r>
              <a:rPr lang="en-US" sz="85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Pre-mainnet audit: 71 findings, 70%+ resolved</a:t>
            </a:r>
            <a:endParaRPr lang="en-US" sz="850" dirty="0"/>
          </a:p>
          <a:p>
            <a:pPr algn="l" marL="88900" indent="-88900">
              <a:lnSpc>
                <a:spcPts val="1360"/>
              </a:lnSpc>
              <a:buSzPct val="100000"/>
              <a:buChar char="•"/>
            </a:pPr>
            <a:r>
              <a:rPr lang="en-US" sz="85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Clippy warnings, cargo fmt clean</a:t>
            </a:r>
            <a:endParaRPr lang="en-US" sz="850" dirty="0"/>
          </a:p>
          <a:p>
            <a:pPr algn="l" marL="88900" indent="-88900">
              <a:lnSpc>
                <a:spcPts val="1360"/>
              </a:lnSpc>
              <a:buSzPct val="100000"/>
              <a:buChar char="•"/>
            </a:pPr>
            <a:r>
              <a:rPr lang="en-US" sz="85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Architecture Decision Records</a:t>
            </a:r>
            <a:endParaRPr lang="en-US" sz="850" dirty="0"/>
          </a:p>
          <a:p>
            <a:pPr algn="l" marL="88900" indent="-88900">
              <a:lnSpc>
                <a:spcPts val="1360"/>
              </a:lnSpc>
              <a:buSzPct val="100000"/>
              <a:buChar char="•"/>
            </a:pPr>
            <a:r>
              <a:rPr lang="en-US" sz="85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 git commits, full build traceability</a:t>
            </a:r>
            <a:endParaRPr lang="en-US" sz="850" dirty="0"/>
          </a:p>
          <a:p>
            <a:pPr algn="l" marL="88900" indent="-88900">
              <a:lnSpc>
                <a:spcPts val="1360"/>
              </a:lnSpc>
              <a:buSzPct val="100000"/>
              <a:buChar char="•"/>
            </a:pPr>
            <a:r>
              <a:rPr lang="en-US" sz="85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Rust — zero C/C++ dependencies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600"/>
            <a:ext cx="4572000" cy="50750"/>
          </a:xfrm>
          <a:prstGeom prst="rect">
            <a:avLst/>
          </a:prstGeom>
          <a:solidFill>
            <a:srgbClr val="4A3B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0" y="82600"/>
            <a:ext cx="4572000" cy="50750"/>
          </a:xfrm>
          <a:prstGeom prst="rect">
            <a:avLst/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50750"/>
            <a:ext cx="63401" cy="5092601"/>
          </a:xfrm>
          <a:prstGeom prst="rect">
            <a:avLst/>
          </a:prstGeom>
          <a:solidFill>
            <a:srgbClr val="4A3B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527000"/>
            <a:ext cx="878281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TOKENOMICS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3400" y="930176"/>
            <a:ext cx="87828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B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in code, not just a whitepaper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76201"/>
            <a:ext cx="38497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AZTB Token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77727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Cap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81200" y="1577727"/>
            <a:ext cx="108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1,000,000,000 AZTB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761827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1-2 Emission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81200" y="1761827"/>
            <a:ext cx="9676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120M AZTB / year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945928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Halving Schedule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81200" y="1945928"/>
            <a:ext cx="7520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2 years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130028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Model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81200" y="2130028"/>
            <a:ext cx="12765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EIP-1559 base fee burn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314129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ID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81200" y="2314129"/>
            <a:ext cx="427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0xA27B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4901" y="2752130"/>
            <a:ext cx="3418880" cy="1200001"/>
          </a:xfrm>
          <a:prstGeom prst="roundRect">
            <a:avLst>
              <a:gd name="adj" fmla="val 6350"/>
            </a:avLst>
          </a:prstGeom>
          <a:solidFill>
            <a:srgbClr val="F5F2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12602" y="2879080"/>
            <a:ext cx="31247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4A3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Accrual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12602" y="3063180"/>
            <a:ext cx="3063478" cy="7620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 fees for all transactions</a:t>
            </a:r>
            <a:endParaRPr lang="en-US" sz="800" dirty="0"/>
          </a:p>
          <a:p>
            <a:pPr algn="l" marL="76200" indent="-762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Staking lockup reduces supply</a:t>
            </a:r>
            <a:endParaRPr lang="en-US" sz="800" dirty="0"/>
          </a:p>
          <a:p>
            <a:pPr algn="l" marL="76200" indent="-762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compute market (PoUW) drives demand</a:t>
            </a:r>
            <a:endParaRPr lang="en-US" sz="800" dirty="0"/>
          </a:p>
          <a:p>
            <a:pPr algn="l" marL="76200" indent="-762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dApps and L2 settlements</a:t>
            </a:r>
            <a:endParaRPr lang="en-US" sz="800" dirty="0"/>
          </a:p>
          <a:p>
            <a:pPr algn="l" marL="76200" indent="-762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cap + halving = scarcity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485382" y="1276201"/>
            <a:ext cx="43631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Emission Distribution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85382" y="1555552"/>
            <a:ext cx="2667000" cy="228600"/>
          </a:xfrm>
          <a:prstGeom prst="roundRect">
            <a:avLst>
              <a:gd name="adj" fmla="val 16667"/>
            </a:avLst>
          </a:prstGeom>
          <a:solidFill>
            <a:srgbClr val="4A3B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253883" y="1612702"/>
            <a:ext cx="7324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pPr algn="l" indent="0" marL="0">
              <a:buNone/>
            </a:pPr>
            <a:r>
              <a:rPr lang="en-US" sz="85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Validators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485382" y="1885652"/>
            <a:ext cx="571500" cy="228600"/>
          </a:xfrm>
          <a:prstGeom prst="roundRect">
            <a:avLst>
              <a:gd name="adj" fmla="val 16667"/>
            </a:avLst>
          </a:prstGeom>
          <a:solidFill>
            <a:srgbClr val="6B5CA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158383" y="1942802"/>
            <a:ext cx="10463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pPr algn="l" indent="0" marL="0">
              <a:buNone/>
            </a:pPr>
            <a:r>
              <a:rPr lang="en-US" sz="85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PoUW Compute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485382" y="2215753"/>
            <a:ext cx="381000" cy="228600"/>
          </a:xfrm>
          <a:prstGeom prst="roundRect">
            <a:avLst>
              <a:gd name="adj" fmla="val 16667"/>
            </a:avLst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67883" y="2272903"/>
            <a:ext cx="6793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pPr algn="l" indent="0" marL="0">
              <a:buNone/>
            </a:pPr>
            <a:r>
              <a:rPr lang="en-US" sz="85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Treasury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485382" y="2545854"/>
            <a:ext cx="190500" cy="228600"/>
          </a:xfrm>
          <a:prstGeom prst="roundRect">
            <a:avLst>
              <a:gd name="adj" fmla="val 20000"/>
            </a:avLst>
          </a:prstGeom>
          <a:solidFill>
            <a:srgbClr val="C4B8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77383" y="2603004"/>
            <a:ext cx="9548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pPr algn="l" indent="0" marL="0">
              <a:buNone/>
            </a:pPr>
            <a:r>
              <a:rPr lang="en-US" sz="85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Insurance Fund</a:t>
            </a:r>
            <a:endParaRPr lang="en-US" sz="85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4485382" y="2901404"/>
          <a:ext cx="3810000" cy="20319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600"/>
            <a:ext cx="4572000" cy="50750"/>
          </a:xfrm>
          <a:prstGeom prst="rect">
            <a:avLst/>
          </a:prstGeom>
          <a:solidFill>
            <a:srgbClr val="4A3B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0" y="82600"/>
            <a:ext cx="4572000" cy="50750"/>
          </a:xfrm>
          <a:prstGeom prst="rect">
            <a:avLst/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50750"/>
            <a:ext cx="63401" cy="5092601"/>
          </a:xfrm>
          <a:prstGeom prst="rect">
            <a:avLst/>
          </a:prstGeom>
          <a:solidFill>
            <a:srgbClr val="4A3B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527000"/>
            <a:ext cx="878281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3400" y="930176"/>
            <a:ext cx="87828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B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infrastructure meets decentralized compute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301651"/>
            <a:ext cx="42481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Addressable Market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54076"/>
            <a:ext cx="9067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3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$150B+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46150" y="1707356"/>
            <a:ext cx="293241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infrastructure market by 2027, growing 40%+ annually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047726"/>
            <a:ext cx="9067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3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$7B+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46150" y="2101007"/>
            <a:ext cx="29161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market cap of decentralized compute projects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441377"/>
            <a:ext cx="9067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3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$1B+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46150" y="2494657"/>
            <a:ext cx="27406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DePIN hardware ecosystem (Helium, DIMO, Deeper)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6250" y="2860477"/>
            <a:ext cx="0" cy="761554"/>
          </a:xfrm>
          <a:prstGeom prst="line">
            <a:avLst/>
          </a:prstGeom>
          <a:noFill/>
          <a:ln w="38100">
            <a:solidFill>
              <a:srgbClr val="D4A5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3001" y="2987427"/>
            <a:ext cx="38467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AZTIBASE DIFFERENTIATOR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3001" y="3171527"/>
            <a:ext cx="3846731" cy="32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these projects have AI integrated INTO consensus. They all bolt compute onto existing chains. PoUW makes mining productive.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50606" y="1301651"/>
            <a:ext cx="39906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AI Compute Landscape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03006" y="1682502"/>
            <a:ext cx="3607594" cy="539353"/>
          </a:xfrm>
          <a:prstGeom prst="roundRect">
            <a:avLst>
              <a:gd name="adj" fmla="val 9419"/>
            </a:avLst>
          </a:prstGeom>
          <a:solidFill>
            <a:srgbClr val="F5F2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155406" y="1784003"/>
            <a:ext cx="1147167" cy="336352"/>
          </a:xfrm>
          <a:prstGeom prst="roundRect">
            <a:avLst>
              <a:gd name="adj" fmla="val 15103"/>
            </a:avLst>
          </a:prstGeom>
          <a:solidFill>
            <a:srgbClr val="F5F2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07806" y="1885504"/>
            <a:ext cx="8592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Bittensor (TAO)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622828" y="1784003"/>
            <a:ext cx="835372" cy="336352"/>
          </a:xfrm>
          <a:prstGeom prst="roundRect">
            <a:avLst>
              <a:gd name="adj" fmla="val 15103"/>
            </a:avLst>
          </a:prstGeom>
          <a:solidFill>
            <a:srgbClr val="F5F2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775228" y="1885504"/>
            <a:ext cx="5411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3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$3B+ FDV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03006" y="2501057"/>
            <a:ext cx="3607594" cy="539353"/>
          </a:xfrm>
          <a:prstGeom prst="roundRect">
            <a:avLst>
              <a:gd name="adj" fmla="val 9419"/>
            </a:avLst>
          </a:prstGeom>
          <a:solidFill>
            <a:srgbClr val="F5F2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155406" y="2602557"/>
            <a:ext cx="1136749" cy="336352"/>
          </a:xfrm>
          <a:prstGeom prst="roundRect">
            <a:avLst>
              <a:gd name="adj" fmla="val 15103"/>
            </a:avLst>
          </a:prstGeom>
          <a:solidFill>
            <a:srgbClr val="F5F2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307806" y="2704058"/>
            <a:ext cx="8485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(RNDR)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622828" y="2602557"/>
            <a:ext cx="835372" cy="336352"/>
          </a:xfrm>
          <a:prstGeom prst="roundRect">
            <a:avLst>
              <a:gd name="adj" fmla="val 15103"/>
            </a:avLst>
          </a:prstGeom>
          <a:solidFill>
            <a:srgbClr val="F5F2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775228" y="2704058"/>
            <a:ext cx="5411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3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$3B+ FDV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03006" y="3319611"/>
            <a:ext cx="3607594" cy="539353"/>
          </a:xfrm>
          <a:prstGeom prst="roundRect">
            <a:avLst>
              <a:gd name="adj" fmla="val 9419"/>
            </a:avLst>
          </a:prstGeom>
          <a:solidFill>
            <a:srgbClr val="F5F2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155406" y="3421112"/>
            <a:ext cx="990749" cy="336352"/>
          </a:xfrm>
          <a:prstGeom prst="roundRect">
            <a:avLst>
              <a:gd name="adj" fmla="val 15103"/>
            </a:avLst>
          </a:prstGeom>
          <a:solidFill>
            <a:srgbClr val="F5F2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307806" y="3522613"/>
            <a:ext cx="6996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 (AKT)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622828" y="3421112"/>
            <a:ext cx="835372" cy="336352"/>
          </a:xfrm>
          <a:prstGeom prst="roundRect">
            <a:avLst>
              <a:gd name="adj" fmla="val 15103"/>
            </a:avLst>
          </a:prstGeom>
          <a:solidFill>
            <a:srgbClr val="F5F2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775228" y="3522613"/>
            <a:ext cx="5411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3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$1B+ FDV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03006" y="4138166"/>
            <a:ext cx="3607594" cy="539353"/>
          </a:xfrm>
          <a:prstGeom prst="roundRect">
            <a:avLst>
              <a:gd name="adj" fmla="val 9419"/>
            </a:avLst>
          </a:prstGeom>
          <a:solidFill>
            <a:srgbClr val="F5F2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155406" y="4239667"/>
            <a:ext cx="609600" cy="336352"/>
          </a:xfrm>
          <a:prstGeom prst="roundRect">
            <a:avLst>
              <a:gd name="adj" fmla="val 15103"/>
            </a:avLst>
          </a:prstGeom>
          <a:solidFill>
            <a:srgbClr val="F5F2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307806" y="4341168"/>
            <a:ext cx="3108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io.net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476679" y="4239667"/>
            <a:ext cx="981521" cy="336352"/>
          </a:xfrm>
          <a:prstGeom prst="roundRect">
            <a:avLst>
              <a:gd name="adj" fmla="val 15103"/>
            </a:avLst>
          </a:prstGeom>
          <a:solidFill>
            <a:srgbClr val="F5F2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629079" y="4341168"/>
            <a:ext cx="6902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3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$500M+ FDV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50606" y="4855220"/>
            <a:ext cx="39906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B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are compute marketplaces on existing chains — none have consensus-level AI integration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600"/>
            <a:ext cx="4572000" cy="50750"/>
          </a:xfrm>
          <a:prstGeom prst="rect">
            <a:avLst/>
          </a:prstGeom>
          <a:solidFill>
            <a:srgbClr val="4A3B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0" y="82600"/>
            <a:ext cx="4572000" cy="50750"/>
          </a:xfrm>
          <a:prstGeom prst="rect">
            <a:avLst/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50750"/>
            <a:ext cx="63401" cy="5092601"/>
          </a:xfrm>
          <a:prstGeom prst="rect">
            <a:avLst/>
          </a:prstGeom>
          <a:solidFill>
            <a:srgbClr val="4A3B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425351"/>
            <a:ext cx="878281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MODEL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400" y="787301"/>
            <a:ext cx="87828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8B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revenue streams from day one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47601"/>
            <a:ext cx="43230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4150" y="1342876"/>
            <a:ext cx="3984427" cy="590252"/>
          </a:xfrm>
          <a:prstGeom prst="roundRect">
            <a:avLst>
              <a:gd name="adj" fmla="val 8606"/>
            </a:avLst>
          </a:prstGeom>
          <a:solidFill>
            <a:srgbClr val="F5F2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6550" y="1444377"/>
            <a:ext cx="37532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4A3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Validator Hardware Sales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6550" y="1603028"/>
            <a:ext cx="37532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Node ($699) and AI Compute Node ($1,500) — pre-configured, plug-and-play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84150" y="2148929"/>
            <a:ext cx="3984427" cy="475952"/>
          </a:xfrm>
          <a:prstGeom prst="roundRect">
            <a:avLst>
              <a:gd name="adj" fmla="val 10673"/>
            </a:avLst>
          </a:prstGeom>
          <a:solidFill>
            <a:srgbClr val="F5F2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36550" y="2250430"/>
            <a:ext cx="37532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4A3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Validator NFTs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6550" y="2409081"/>
            <a:ext cx="3753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Limited-supply NFTs granting mainnet validator slots ($200-$1,000)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84150" y="2840682"/>
            <a:ext cx="3984427" cy="475952"/>
          </a:xfrm>
          <a:prstGeom prst="roundRect">
            <a:avLst>
              <a:gd name="adj" fmla="val 10673"/>
            </a:avLst>
          </a:prstGeom>
          <a:solidFill>
            <a:srgbClr val="F5F2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36550" y="2942183"/>
            <a:ext cx="37532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4A3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Launch (LBP)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6550" y="3100834"/>
            <a:ext cx="3753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Fjord Foundry Liquidity Bootstrapping Pool — fair price discovery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84150" y="3532436"/>
            <a:ext cx="3984427" cy="475952"/>
          </a:xfrm>
          <a:prstGeom prst="roundRect">
            <a:avLst>
              <a:gd name="adj" fmla="val 10673"/>
            </a:avLst>
          </a:prstGeom>
          <a:solidFill>
            <a:srgbClr val="F5F2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36550" y="3633936"/>
            <a:ext cx="37532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4A3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Fees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6550" y="3792587"/>
            <a:ext cx="3753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protocol cut on PoUW inference tasks + transaction gas fees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84150" y="4224189"/>
            <a:ext cx="3984427" cy="475952"/>
          </a:xfrm>
          <a:prstGeom prst="roundRect">
            <a:avLst>
              <a:gd name="adj" fmla="val 10673"/>
            </a:avLst>
          </a:prstGeom>
          <a:solidFill>
            <a:srgbClr val="F5F2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36550" y="4325689"/>
            <a:ext cx="37532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4A3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Validator-as-a-Service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6550" y="4484340"/>
            <a:ext cx="3753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Delegation commissions for passive stakers (5-15% of rewards)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98678" y="1047601"/>
            <a:ext cx="39416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Projections (Conservative)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76379" y="1453902"/>
            <a:ext cx="3508921" cy="2666107"/>
          </a:xfrm>
          <a:prstGeom prst="roundRect">
            <a:avLst>
              <a:gd name="adj" fmla="val 2858"/>
            </a:avLst>
          </a:prstGeom>
          <a:solidFill>
            <a:srgbClr val="F5F2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54079" y="1580852"/>
            <a:ext cx="3153519" cy="368201"/>
          </a:xfrm>
          <a:prstGeom prst="roundRect">
            <a:avLst>
              <a:gd name="adj" fmla="val 20695"/>
            </a:avLst>
          </a:prstGeom>
          <a:solidFill>
            <a:srgbClr val="F5F2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431780" y="1707803"/>
            <a:ext cx="14726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Validator Boxes (50-100 units)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677894" y="1707803"/>
            <a:ext cx="5630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A3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$35K-$70K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254079" y="1999804"/>
            <a:ext cx="3153519" cy="368201"/>
          </a:xfrm>
          <a:prstGeom prst="roundRect">
            <a:avLst>
              <a:gd name="adj" fmla="val 20695"/>
            </a:avLst>
          </a:prstGeom>
          <a:solidFill>
            <a:srgbClr val="F5F2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431780" y="2126754"/>
            <a:ext cx="15786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Compute Nodes (10-20 units)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677894" y="2126754"/>
            <a:ext cx="5630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A3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$15K-$30K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254079" y="2418755"/>
            <a:ext cx="3153519" cy="368201"/>
          </a:xfrm>
          <a:prstGeom prst="roundRect">
            <a:avLst>
              <a:gd name="adj" fmla="val 20695"/>
            </a:avLst>
          </a:prstGeom>
          <a:solidFill>
            <a:srgbClr val="F5F2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431780" y="2545705"/>
            <a:ext cx="12215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Validator NFTs (200-500)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57939" y="2545705"/>
            <a:ext cx="6853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A3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$100K-$250K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254079" y="2837706"/>
            <a:ext cx="3153519" cy="368201"/>
          </a:xfrm>
          <a:prstGeom prst="roundRect">
            <a:avLst>
              <a:gd name="adj" fmla="val 20695"/>
            </a:avLst>
          </a:prstGeom>
          <a:solidFill>
            <a:srgbClr val="F5F2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431780" y="2964656"/>
            <a:ext cx="8566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Sale (LBP)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557939" y="2964656"/>
            <a:ext cx="6853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A3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$100K-$300K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254079" y="3282107"/>
            <a:ext cx="3153519" cy="710952"/>
          </a:xfrm>
          <a:prstGeom prst="roundRect">
            <a:avLst>
              <a:gd name="adj" fmla="val 10718"/>
            </a:avLst>
          </a:prstGeom>
          <a:solidFill>
            <a:srgbClr val="F5F2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5254079" y="3286869"/>
            <a:ext cx="3153519" cy="0"/>
          </a:xfrm>
          <a:prstGeom prst="line">
            <a:avLst/>
          </a:prstGeom>
          <a:noFill/>
          <a:ln w="9525">
            <a:solidFill>
              <a:srgbClr val="C4B8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31780" y="3418582"/>
            <a:ext cx="2798118" cy="396776"/>
          </a:xfrm>
          <a:prstGeom prst="roundRect">
            <a:avLst>
              <a:gd name="adj" fmla="val 19205"/>
            </a:avLst>
          </a:prstGeom>
          <a:solidFill>
            <a:srgbClr val="F5F2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609481" y="3545532"/>
            <a:ext cx="9188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3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YEAR 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261622" y="3545532"/>
            <a:ext cx="8063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3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$250K-$850K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600"/>
            <a:ext cx="4572000" cy="50750"/>
          </a:xfrm>
          <a:prstGeom prst="rect">
            <a:avLst/>
          </a:prstGeom>
          <a:solidFill>
            <a:srgbClr val="4A3B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0" y="82600"/>
            <a:ext cx="4572000" cy="50750"/>
          </a:xfrm>
          <a:prstGeom prst="rect">
            <a:avLst/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50750"/>
            <a:ext cx="63401" cy="5092601"/>
          </a:xfrm>
          <a:prstGeom prst="rect">
            <a:avLst/>
          </a:prstGeom>
          <a:solidFill>
            <a:srgbClr val="4A3B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527000"/>
            <a:ext cx="878281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3400" y="930176"/>
            <a:ext cx="87828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B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18-month roadmap to mainnet and beyond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84150" y="1326952"/>
            <a:ext cx="1269950" cy="374600"/>
          </a:xfrm>
          <a:prstGeom prst="roundRect">
            <a:avLst>
              <a:gd name="adj" fmla="val 13561"/>
            </a:avLst>
          </a:prstGeom>
          <a:solidFill>
            <a:srgbClr val="4A3B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00940" y="1403152"/>
            <a:ext cx="10363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00940" y="1530102"/>
            <a:ext cx="10363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1-2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108002" y="1301502"/>
            <a:ext cx="67880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108002" y="1460153"/>
            <a:ext cx="678809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X/Twitter build-in-public, Discord community, Mirror.xyz technical articles, legal counsel engagement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84150" y="1930152"/>
            <a:ext cx="1269950" cy="374600"/>
          </a:xfrm>
          <a:prstGeom prst="roundRect">
            <a:avLst>
              <a:gd name="adj" fmla="val 13561"/>
            </a:avLst>
          </a:prstGeom>
          <a:solidFill>
            <a:srgbClr val="5D4E9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0940" y="2006352"/>
            <a:ext cx="10363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00940" y="2133302"/>
            <a:ext cx="10363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3-4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108002" y="1904702"/>
            <a:ext cx="67880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Testnet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08002" y="2063353"/>
            <a:ext cx="678809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testnet with faucet, Zealy quest system, testnet incentive program (points to airdrop), first ambassadors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84150" y="2533352"/>
            <a:ext cx="1269950" cy="374600"/>
          </a:xfrm>
          <a:prstGeom prst="roundRect">
            <a:avLst>
              <a:gd name="adj" fmla="val 13561"/>
            </a:avLst>
          </a:prstGeom>
          <a:solidFill>
            <a:srgbClr val="6B5CA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00940" y="2609552"/>
            <a:ext cx="10363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00940" y="2736503"/>
            <a:ext cx="10363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5-6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108002" y="2507903"/>
            <a:ext cx="67880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Attraction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08002" y="2666554"/>
            <a:ext cx="678809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DoraHacks hackathon, grant program launch, conference attendance, security audit (Hacken/Halborn), advisor recruitment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84150" y="3136553"/>
            <a:ext cx="1269950" cy="374600"/>
          </a:xfrm>
          <a:prstGeom prst="roundRect">
            <a:avLst>
              <a:gd name="adj" fmla="val 13561"/>
            </a:avLst>
          </a:prstGeom>
          <a:solidFill>
            <a:srgbClr val="7E6DB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00940" y="3212753"/>
            <a:ext cx="10363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00940" y="3339703"/>
            <a:ext cx="10363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7-8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108002" y="3111103"/>
            <a:ext cx="67880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Mainnet Launch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08002" y="3269754"/>
            <a:ext cx="678809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ceremony, DEX listing (Uniswap/PancakeSwap via wAZTB bridge), Fjord Foundry LBP token sale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4150" y="3739753"/>
            <a:ext cx="1269950" cy="374600"/>
          </a:xfrm>
          <a:prstGeom prst="roundRect">
            <a:avLst>
              <a:gd name="adj" fmla="val 13561"/>
            </a:avLst>
          </a:prstGeom>
          <a:solidFill>
            <a:srgbClr val="958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00940" y="3815953"/>
            <a:ext cx="10363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00940" y="3942904"/>
            <a:ext cx="10363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9-12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108002" y="3714304"/>
            <a:ext cx="67880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108002" y="3872954"/>
            <a:ext cx="678809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MEXC listing (Tier 3 CEX), validator hardware sales launch, Validator NFT mint, second hackathon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84150" y="4342954"/>
            <a:ext cx="1269950" cy="374600"/>
          </a:xfrm>
          <a:prstGeom prst="roundRect">
            <a:avLst>
              <a:gd name="adj" fmla="val 13561"/>
            </a:avLst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00940" y="4419154"/>
            <a:ext cx="10363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00940" y="4546104"/>
            <a:ext cx="10363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12-18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108002" y="4317504"/>
            <a:ext cx="67880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108002" y="4476155"/>
            <a:ext cx="678809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CEX (KuCoin/Gate.io), native DEX on Aztibase, decentralized bridge, 100+ validator nodes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600"/>
            <a:ext cx="4572000" cy="50750"/>
          </a:xfrm>
          <a:prstGeom prst="rect">
            <a:avLst/>
          </a:prstGeom>
          <a:solidFill>
            <a:srgbClr val="4A3B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0" y="82600"/>
            <a:ext cx="4572000" cy="50750"/>
          </a:xfrm>
          <a:prstGeom prst="rect">
            <a:avLst/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50750"/>
            <a:ext cx="63401" cy="5092601"/>
          </a:xfrm>
          <a:prstGeom prst="rect">
            <a:avLst/>
          </a:prstGeom>
          <a:solidFill>
            <a:srgbClr val="4A3B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527000"/>
            <a:ext cx="878281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3400" y="930176"/>
            <a:ext cx="87828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B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comparison with existing projects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0" y="4374952"/>
            <a:ext cx="93268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B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Aztibase is the only project with AI inference integrated at the consensus level. All competitors bolt compute onto existing chains.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0" y="1073051"/>
          <a:ext cx="8127950" cy="3301901"/>
        </p:xfrm>
        <a:graphic>
          <a:graphicData uri="http://schemas.openxmlformats.org/drawingml/2006/table">
            <a:tbl>
              <a:tblPr/>
              <a:tblGrid>
                <a:gridCol w="1280160"/>
                <a:gridCol w="1097280"/>
                <a:gridCol w="914400"/>
                <a:gridCol w="914400"/>
                <a:gridCol w="91440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B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Aztibase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B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Bittensor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B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Akash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B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Render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B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Ethereum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B8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A2D7A"/>
                          </a:solidFill>
                        </a:rPr>
                        <a:t>AI-Native Consensus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A2D7A"/>
                          </a:solidFill>
                        </a:rPr>
                        <a:t>Yes (PoUW)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7FB0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7FB0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7FB0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7FB0"/>
                          </a:solidFill>
                        </a:rPr>
                        <a:t>No (PoS)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A2D7A"/>
                          </a:solidFill>
                        </a:rPr>
                        <a:t>On-chain Inference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A2D7A"/>
                          </a:solidFill>
                        </a:rPr>
                        <a:t>Yes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7FB0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7FB0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7FB0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7FB0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A2D7A"/>
                          </a:solidFill>
                        </a:rPr>
                        <a:t>TPS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A2D7A"/>
                          </a:solidFill>
                        </a:rPr>
                        <a:t>10,000+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7FB0"/>
                          </a:solidFill>
                        </a:rPr>
                        <a:t>~20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7FB0"/>
                          </a:solidFill>
                        </a:rPr>
                        <a:t>N/A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7FB0"/>
                          </a:solidFill>
                        </a:rPr>
                        <a:t>N/A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7FB0"/>
                          </a:solidFill>
                        </a:rPr>
                        <a:t>~30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A2D7A"/>
                          </a:solidFill>
                        </a:rPr>
                        <a:t>Finality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A2D7A"/>
                          </a:solidFill>
                        </a:rPr>
                        <a:t>&lt;1 second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7FB0"/>
                          </a:solidFill>
                        </a:rPr>
                        <a:t>~12s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7FB0"/>
                          </a:solidFill>
                        </a:rPr>
                        <a:t>N/A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7FB0"/>
                          </a:solidFill>
                        </a:rPr>
                        <a:t>N/A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7FB0"/>
                          </a:solidFill>
                        </a:rPr>
                        <a:t>~12 min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A2D7A"/>
                          </a:solidFill>
                        </a:rPr>
                        <a:t>Dual VM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A2D7A"/>
                          </a:solidFill>
                        </a:rPr>
                        <a:t>WASM+EVM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7FB0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7FB0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7FB0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7FB0"/>
                          </a:solidFill>
                        </a:rPr>
                        <a:t>EVM only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A2D7A"/>
                          </a:solidFill>
                        </a:rPr>
                        <a:t>Browser Nodes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A2D7A"/>
                          </a:solidFill>
                        </a:rPr>
                        <a:t>Yes (WebRTC)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7FB0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7FB0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7FB0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7FB0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A2D7A"/>
                          </a:solidFill>
                        </a:rPr>
                        <a:t>Language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A2D7A"/>
                          </a:solidFill>
                        </a:rPr>
                        <a:t>Pure Rust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7FB0"/>
                          </a:solidFill>
                        </a:rPr>
                        <a:t>Python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7FB0"/>
                          </a:solidFill>
                        </a:rPr>
                        <a:t>Go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7FB0"/>
                          </a:solidFill>
                        </a:rPr>
                        <a:t>N/A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7FB0"/>
                          </a:solidFill>
                        </a:rPr>
                        <a:t>Multiple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600"/>
            <a:ext cx="4572000" cy="50750"/>
          </a:xfrm>
          <a:prstGeom prst="rect">
            <a:avLst/>
          </a:prstGeom>
          <a:solidFill>
            <a:srgbClr val="4A3B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0" y="82600"/>
            <a:ext cx="4572000" cy="50750"/>
          </a:xfrm>
          <a:prstGeom prst="rect">
            <a:avLst/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50750"/>
            <a:ext cx="63401" cy="5092601"/>
          </a:xfrm>
          <a:prstGeom prst="rect">
            <a:avLst/>
          </a:prstGeom>
          <a:solidFill>
            <a:srgbClr val="4A3B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527000"/>
            <a:ext cx="878281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3400" y="930176"/>
            <a:ext cx="87828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B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opportunity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301651"/>
            <a:ext cx="41064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6250" y="1688902"/>
            <a:ext cx="0" cy="1190179"/>
          </a:xfrm>
          <a:prstGeom prst="line">
            <a:avLst/>
          </a:prstGeom>
          <a:noFill/>
          <a:ln w="38100">
            <a:solidFill>
              <a:srgbClr val="4A3B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3900" y="1866602"/>
            <a:ext cx="3530650" cy="834777"/>
          </a:xfrm>
          <a:prstGeom prst="roundRect">
            <a:avLst>
              <a:gd name="adj" fmla="val 9128"/>
            </a:avLst>
          </a:prstGeom>
          <a:solidFill>
            <a:srgbClr val="F5F2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2500" y="2044303"/>
            <a:ext cx="313491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4A3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 BE CONFIRMED]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52500" y="2390329"/>
            <a:ext cx="31349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/ Seed round — SAFE or Token Warrant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056781"/>
            <a:ext cx="41064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301157"/>
            <a:ext cx="2031950" cy="177701"/>
          </a:xfrm>
          <a:prstGeom prst="roundRect">
            <a:avLst>
              <a:gd name="adj" fmla="val 21441"/>
            </a:avLst>
          </a:prstGeom>
          <a:solidFill>
            <a:srgbClr val="4A3B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90651" y="3332857"/>
            <a:ext cx="8385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pPr algn="l" indent="0" marL="0">
              <a:buNone/>
            </a:pPr>
            <a:r>
              <a:rPr lang="en-US" sz="85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Engineering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3555057"/>
            <a:ext cx="1269950" cy="177701"/>
          </a:xfrm>
          <a:prstGeom prst="roundRect">
            <a:avLst>
              <a:gd name="adj" fmla="val 21441"/>
            </a:avLst>
          </a:prstGeom>
          <a:solidFill>
            <a:srgbClr val="6B5CA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828651" y="3586758"/>
            <a:ext cx="5203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pPr algn="l" indent="0" marL="0">
              <a:buNone/>
            </a:pPr>
            <a:r>
              <a:rPr lang="en-US" sz="85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Legal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3808958"/>
            <a:ext cx="1015901" cy="177701"/>
          </a:xfrm>
          <a:prstGeom prst="roundRect">
            <a:avLst>
              <a:gd name="adj" fmla="val 21441"/>
            </a:avLst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574602" y="3840659"/>
            <a:ext cx="89959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pPr algn="l" indent="0" marL="0">
              <a:buNone/>
            </a:pPr>
            <a:r>
              <a:rPr lang="en-US" sz="85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Infrastructure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4062859"/>
            <a:ext cx="762000" cy="177701"/>
          </a:xfrm>
          <a:prstGeom prst="roundRect">
            <a:avLst>
              <a:gd name="adj" fmla="val 21441"/>
            </a:avLst>
          </a:prstGeom>
          <a:solidFill>
            <a:srgbClr val="C4B8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320701" y="4094559"/>
            <a:ext cx="7344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pPr algn="l" indent="0" marL="0">
              <a:buNone/>
            </a:pPr>
            <a:r>
              <a:rPr lang="en-US" sz="85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Marketing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37050" y="1301651"/>
            <a:ext cx="41064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&amp; Assets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37050" y="1581001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Entity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07001" y="1581001"/>
            <a:ext cx="984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Aztibase (Pty) Ltd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37050" y="1790551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Jurisdiction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07001" y="1790551"/>
            <a:ext cx="10773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Africa (CIPC)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37050" y="2000101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07001" y="2000101"/>
            <a:ext cx="7323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aztibase.com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37050" y="2209651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07001" y="2209651"/>
            <a:ext cx="11675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@aztibase (X/Twitter)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37050" y="2419201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Codebase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07001" y="2419201"/>
            <a:ext cx="14728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2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for due diligence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14751" y="2882652"/>
            <a:ext cx="3670548" cy="740122"/>
          </a:xfrm>
          <a:prstGeom prst="roundRect">
            <a:avLst>
              <a:gd name="adj" fmla="val 10296"/>
            </a:avLst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933801" y="2882652"/>
            <a:ext cx="0" cy="740122"/>
          </a:xfrm>
          <a:prstGeom prst="line">
            <a:avLst/>
          </a:prstGeom>
          <a:noFill/>
          <a:ln w="38100">
            <a:solidFill>
              <a:srgbClr val="D4A57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30552" y="3009602"/>
            <a:ext cx="33425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30552" y="3193703"/>
            <a:ext cx="3342587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5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 BE CONFIRMED — Founder details, background, advisors to be added before investor meetings]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A3B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07115" y="990749"/>
            <a:ext cx="432962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AZTIBASE NETWORK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407115" y="1476524"/>
            <a:ext cx="43296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400"/>
              </a:spcAft>
              <a:buNone/>
            </a:pPr>
            <a:r>
              <a:rPr lang="en-US" sz="1400" dirty="0">
                <a:solidFill>
                  <a:srgbClr val="C4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blockchain that works for a living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90851" y="1990874"/>
            <a:ext cx="762000" cy="12650"/>
          </a:xfrm>
          <a:prstGeom prst="rect">
            <a:avLst/>
          </a:prstGeom>
          <a:solidFill>
            <a:srgbClr val="8B7F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407115" y="2308324"/>
            <a:ext cx="432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aztibase.com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407115" y="2527399"/>
            <a:ext cx="432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@aztibase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407115" y="2746474"/>
            <a:ext cx="432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[CONTACT TO BE CONFIRMED]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03463" y="3270200"/>
            <a:ext cx="3736925" cy="387251"/>
          </a:xfrm>
          <a:prstGeom prst="roundRect">
            <a:avLst>
              <a:gd name="adj" fmla="val 13118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925072" y="3397151"/>
            <a:ext cx="32937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our testnet: bash start-testnet.sh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07115" y="4038302"/>
            <a:ext cx="43296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AVAILABLE FOR TECHNICAL DUE DILIGENCE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Aztibase Network — Investor Pitch Deck</dc:title>
  <dc:subject>PptxGenJS Presentation</dc:subject>
  <dc:creator>Aztibase Network</dc:creator>
  <cp:lastModifiedBy>Aztibase Network</cp:lastModifiedBy>
  <cp:revision>1</cp:revision>
  <dcterms:created xsi:type="dcterms:W3CDTF">2026-03-13T11:10:26Z</dcterms:created>
  <dcterms:modified xsi:type="dcterms:W3CDTF">2026-03-13T11:10:26Z</dcterms:modified>
</cp:coreProperties>
</file>